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8"/>
  </p:notesMasterIdLst>
  <p:sldIdLst>
    <p:sldId id="256" r:id="rId3"/>
    <p:sldId id="257" r:id="rId4"/>
    <p:sldId id="258" r:id="rId5"/>
    <p:sldId id="259" r:id="rId6"/>
    <p:sldId id="289" r:id="rId7"/>
    <p:sldId id="292" r:id="rId8"/>
    <p:sldId id="291" r:id="rId9"/>
    <p:sldId id="295" r:id="rId10"/>
    <p:sldId id="297" r:id="rId11"/>
    <p:sldId id="312" r:id="rId12"/>
    <p:sldId id="298" r:id="rId13"/>
    <p:sldId id="299" r:id="rId14"/>
    <p:sldId id="300" r:id="rId15"/>
    <p:sldId id="301" r:id="rId16"/>
    <p:sldId id="302" r:id="rId17"/>
    <p:sldId id="303" r:id="rId18"/>
    <p:sldId id="304" r:id="rId19"/>
    <p:sldId id="305" r:id="rId20"/>
    <p:sldId id="306" r:id="rId21"/>
    <p:sldId id="307" r:id="rId22"/>
    <p:sldId id="308" r:id="rId23"/>
    <p:sldId id="309" r:id="rId24"/>
    <p:sldId id="310" r:id="rId25"/>
    <p:sldId id="311" r:id="rId26"/>
    <p:sldId id="282" r:id="rId27"/>
  </p:sldIdLst>
  <p:sldSz cx="18288000" cy="10287000"/>
  <p:notesSz cx="6858000" cy="9144000"/>
  <p:embeddedFontLst>
    <p:embeddedFont>
      <p:font typeface="Times New Roman Bold" panose="02020803070505020304"/>
      <p:bold r:id="rId33"/>
    </p:embeddedFont>
    <p:embeddedFont>
      <p:font typeface="Calibri" panose="020F0502020204030204" charset="0"/>
      <p:regular r:id="rId34"/>
      <p:bold r:id="rId35"/>
      <p:italic r:id="rId36"/>
      <p:boldItalic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22" autoAdjust="0"/>
  </p:normalViewPr>
  <p:slideViewPr>
    <p:cSldViewPr showGuides="1">
      <p:cViewPr varScale="1">
        <p:scale>
          <a:sx n="45" d="100"/>
          <a:sy n="45" d="100"/>
        </p:scale>
        <p:origin x="984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7" Type="http://schemas.openxmlformats.org/officeDocument/2006/relationships/font" Target="fonts/font5.fntdata"/><Relationship Id="rId36" Type="http://schemas.openxmlformats.org/officeDocument/2006/relationships/font" Target="fonts/font4.fntdata"/><Relationship Id="rId35" Type="http://schemas.openxmlformats.org/officeDocument/2006/relationships/font" Target="fonts/font3.fntdata"/><Relationship Id="rId34" Type="http://schemas.openxmlformats.org/officeDocument/2006/relationships/font" Target="fonts/font2.fntdata"/><Relationship Id="rId33" Type="http://schemas.openxmlformats.org/officeDocument/2006/relationships/font" Target="fonts/font1.fntdata"/><Relationship Id="rId32" Type="http://schemas.openxmlformats.org/officeDocument/2006/relationships/commentAuthors" Target="commentAuthors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notesMaster" Target="notesMasters/notesMaster1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F8DE3F-CD42-4DF0-A685-DF4B6D22454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AB82D7-B743-4D19-BE0E-63B39FCFD93E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10391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" name="TextBox 3"/>
          <p:cNvSpPr txBox="1"/>
          <p:nvPr/>
        </p:nvSpPr>
        <p:spPr>
          <a:xfrm>
            <a:off x="1028700" y="3565843"/>
            <a:ext cx="16230600" cy="33426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0"/>
              </a:lnSpc>
              <a:spcBef>
                <a:spcPct val="0"/>
              </a:spcBef>
            </a:pPr>
            <a:r>
              <a:rPr lang="en-US" sz="38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BÁO CÁO LẬP TRÌNH MẠNG</a:t>
            </a:r>
            <a:endParaRPr lang="en-US" sz="38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 algn="ctr">
              <a:lnSpc>
                <a:spcPts val="5320"/>
              </a:lnSpc>
              <a:spcBef>
                <a:spcPct val="0"/>
              </a:spcBef>
            </a:pPr>
            <a:r>
              <a:rPr lang="en-US" sz="38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TÊN ĐỀ TÀI:</a:t>
            </a:r>
            <a:endParaRPr lang="en-US" sz="38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 algn="ctr">
              <a:lnSpc>
                <a:spcPts val="5320"/>
              </a:lnSpc>
              <a:spcBef>
                <a:spcPct val="0"/>
              </a:spcBef>
            </a:pPr>
            <a:r>
              <a:rPr lang="en-US" sz="3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THIẾT KẾ &amp; XÂY DỰNG HỆ THỐNG CHAT CLIENT-SEVER SỬ DỤNG TCP SOCKET TRONG PYTHON</a:t>
            </a:r>
            <a:endParaRPr lang="en-US" sz="38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 algn="ctr">
              <a:lnSpc>
                <a:spcPts val="5320"/>
              </a:lnSpc>
              <a:spcBef>
                <a:spcPct val="0"/>
              </a:spcBef>
            </a:pPr>
            <a:r>
              <a:rPr lang="en-US" sz="38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38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endParaRPr lang="en-US" sz="38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4333240" y="8902700"/>
            <a:ext cx="8915400" cy="662305"/>
          </a:xfrm>
          <a:prstGeom prst="rect">
            <a:avLst/>
          </a:prstGeom>
        </p:spPr>
        <p:txBody>
          <a:bodyPr lIns="0" tIns="0" rIns="0" bIns="0" rtlCol="0" anchor="t">
            <a:no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Giảng</a:t>
            </a:r>
            <a:r>
              <a:rPr lang="en-US" sz="30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viên</a:t>
            </a:r>
            <a:r>
              <a:rPr lang="en-US" sz="30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hướng</a:t>
            </a:r>
            <a:r>
              <a:rPr lang="en-US" sz="30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30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dẫn</a:t>
            </a:r>
            <a:r>
              <a:rPr lang="en-US" sz="30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: MAI NG</a:t>
            </a:r>
            <a:r>
              <a:rPr lang="vi-VN" altLang="en-US" sz="30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ỌC</a:t>
            </a:r>
            <a:r>
              <a:rPr lang="en-US" sz="30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CHÂU</a:t>
            </a:r>
            <a:endParaRPr lang="en-US" sz="30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2657" y="-128736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6" name="TextBox 6"/>
          <p:cNvSpPr txBox="1"/>
          <p:nvPr/>
        </p:nvSpPr>
        <p:spPr>
          <a:xfrm>
            <a:off x="1600200" y="4229100"/>
            <a:ext cx="4886157" cy="48029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1. Trịnh Văn </a:t>
            </a:r>
            <a:r>
              <a:rPr lang="en-US" sz="3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Thưởng</a:t>
            </a:r>
            <a:r>
              <a:rPr lang="en-US" sz="3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2251150081</a:t>
            </a: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2. Nguyễn Thành Đạt</a:t>
            </a: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058206008394</a:t>
            </a: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514350" indent="-514350" algn="ctr">
              <a:lnSpc>
                <a:spcPts val="4200"/>
              </a:lnSpc>
              <a:spcBef>
                <a:spcPct val="0"/>
              </a:spcBef>
              <a:buAutoNum type="arabicPeriod"/>
            </a:pP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1611489" y="4224338"/>
            <a:ext cx="5949255" cy="53415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5. Nguyễn Hoàng </a:t>
            </a:r>
            <a:r>
              <a:rPr lang="en-US" sz="3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Nhựt</a:t>
            </a:r>
            <a:r>
              <a:rPr lang="en-US" sz="3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3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Phát</a:t>
            </a:r>
            <a:r>
              <a:rPr lang="en-US" sz="3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2251150070</a:t>
            </a: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6. </a:t>
            </a:r>
            <a:r>
              <a:rPr lang="en-US" sz="3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Trần</a:t>
            </a:r>
            <a:r>
              <a:rPr lang="en-US" sz="3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Cao Minh</a:t>
            </a: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080206005146</a:t>
            </a: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7180956" y="4229100"/>
            <a:ext cx="3926086" cy="480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3. Vũ Văn Kiệt 2251150059</a:t>
            </a: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(NT)</a:t>
            </a: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  4. </a:t>
            </a:r>
            <a:r>
              <a:rPr lang="en-US" sz="3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Trần</a:t>
            </a:r>
            <a:r>
              <a:rPr lang="en-US" sz="3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Hoàng Nam</a:t>
            </a: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   068206000088</a:t>
            </a: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algn="ctr">
              <a:lnSpc>
                <a:spcPts val="4200"/>
              </a:lnSpc>
              <a:spcBef>
                <a:spcPct val="0"/>
              </a:spcBef>
            </a:pPr>
            <a:endParaRPr lang="en-US" sz="3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  <p:sp>
        <p:nvSpPr>
          <p:cNvPr id="9" name="TextBox 6"/>
          <p:cNvSpPr txBox="1"/>
          <p:nvPr/>
        </p:nvSpPr>
        <p:spPr>
          <a:xfrm>
            <a:off x="6669583" y="3238500"/>
            <a:ext cx="494883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sz="4000" b="1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NHÓM 3</a:t>
            </a:r>
            <a:endParaRPr lang="en-US" sz="4000" b="1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44503" y="2246228"/>
            <a:ext cx="1659434" cy="731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 b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📑</a:t>
            </a:r>
            <a:endParaRPr lang="en-US" sz="4200" b="1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834412" y="2246228"/>
            <a:ext cx="1659434" cy="7315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80"/>
              </a:lnSpc>
              <a:spcBef>
                <a:spcPct val="0"/>
              </a:spcBef>
            </a:pPr>
            <a:r>
              <a:rPr lang="en-US" sz="4200" b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Bố cục </a:t>
            </a:r>
            <a:endParaRPr lang="en-US" sz="4200" b="1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1028700" y="3426279"/>
            <a:ext cx="10858500" cy="42880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63600" lvl="1" indent="-431800" algn="l">
              <a:lnSpc>
                <a:spcPts val="5600"/>
              </a:lnSpc>
              <a:spcBef>
                <a:spcPct val="0"/>
              </a:spcBef>
              <a:buAutoNum type="arabicPeriod"/>
            </a:pP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Giới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thiệu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đề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tài</a:t>
            </a:r>
            <a:endParaRPr lang="en-US" sz="4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863600" lvl="1" indent="-431800" algn="l">
              <a:lnSpc>
                <a:spcPts val="5600"/>
              </a:lnSpc>
              <a:spcBef>
                <a:spcPct val="0"/>
              </a:spcBef>
              <a:buAutoNum type="arabicPeriod"/>
            </a:pP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Cơ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sở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lí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thuyết</a:t>
            </a:r>
            <a:endParaRPr lang="en-US" sz="4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906780" lvl="1" indent="-453390" algn="l">
              <a:lnSpc>
                <a:spcPts val="5880"/>
              </a:lnSpc>
              <a:spcBef>
                <a:spcPct val="0"/>
              </a:spcBef>
              <a:buAutoNum type="arabicPeriod"/>
            </a:pPr>
            <a:r>
              <a:rPr lang="en-US" sz="42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Phân</a:t>
            </a:r>
            <a:r>
              <a:rPr lang="en-US" sz="42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2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tích</a:t>
            </a:r>
            <a:r>
              <a:rPr lang="en-US" sz="42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2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và</a:t>
            </a:r>
            <a:r>
              <a:rPr lang="en-US" sz="42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2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thiết</a:t>
            </a:r>
            <a:r>
              <a:rPr lang="en-US" sz="42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2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kế</a:t>
            </a:r>
            <a:r>
              <a:rPr lang="en-US" sz="42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2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hệ</a:t>
            </a:r>
            <a:r>
              <a:rPr lang="en-US" sz="42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2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thống</a:t>
            </a:r>
            <a:endParaRPr lang="en-US" sz="42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863600" lvl="1" indent="-431800" algn="l">
              <a:lnSpc>
                <a:spcPts val="5600"/>
              </a:lnSpc>
              <a:spcBef>
                <a:spcPct val="0"/>
              </a:spcBef>
              <a:buAutoNum type="arabicPeriod"/>
            </a:pP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Xây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dựng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và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triển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khai</a:t>
            </a:r>
            <a:endParaRPr lang="en-US" sz="4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863600" lvl="1" indent="-431800" algn="l">
              <a:lnSpc>
                <a:spcPts val="5600"/>
              </a:lnSpc>
              <a:spcBef>
                <a:spcPct val="0"/>
              </a:spcBef>
              <a:buAutoNum type="arabicPeriod"/>
            </a:pP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Kiểm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thử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và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đánh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giá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hệ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thống</a:t>
            </a:r>
            <a:endParaRPr lang="en-US" sz="4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  <a:p>
            <a:pPr marL="863600" lvl="1" indent="-431800" algn="l">
              <a:lnSpc>
                <a:spcPts val="5600"/>
              </a:lnSpc>
              <a:spcBef>
                <a:spcPct val="0"/>
              </a:spcBef>
              <a:buAutoNum type="arabicPeriod"/>
            </a:pP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Kết</a:t>
            </a:r>
            <a:r>
              <a:rPr lang="en-US" sz="4000" dirty="0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 </a:t>
            </a:r>
            <a:r>
              <a:rPr lang="en-US" sz="4000" dirty="0" err="1">
                <a:solidFill>
                  <a:srgbClr val="000000"/>
                </a:solidFill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Times New Roman" panose="02020603050405020304"/>
              </a:rPr>
              <a:t>luận</a:t>
            </a:r>
            <a:endParaRPr lang="en-US" sz="4000" dirty="0">
              <a:solidFill>
                <a:srgbClr val="000000"/>
              </a:solidFill>
              <a:latin typeface="Times New Roman" panose="02020603050405020304"/>
              <a:ea typeface="Times New Roman" panose="02020603050405020304"/>
              <a:cs typeface="Times New Roman" panose="02020603050405020304"/>
              <a:sym typeface="Times New Roman" panose="020206030504050203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7981752" cy="14503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2. CƠ SỞ LÍ THUYẾT: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2.1.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Mô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hình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client-server: 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-133548" y="3238500"/>
            <a:ext cx="16230600" cy="50398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06780" lvl="1" indent="-453390">
              <a:lnSpc>
                <a:spcPts val="5880"/>
              </a:lnSpc>
              <a:spcBef>
                <a:spcPct val="0"/>
              </a:spcBef>
              <a:buFont typeface="Arial" panose="020B0604020202020204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Client–Server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những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nay.	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06780" lvl="1" indent="-453390">
              <a:lnSpc>
                <a:spcPts val="5880"/>
              </a:lnSpc>
              <a:spcBef>
                <a:spcPct val="0"/>
              </a:spcBef>
              <a:buFont typeface="Arial" panose="020B0604020202020204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Trong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này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chia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Client: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phía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hồi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Server: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phía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cung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yêu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28700" lvl="1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Trong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chat: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đóng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trò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tâm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chatroom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81000" y="1562100"/>
            <a:ext cx="7981752" cy="14503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2. CƠ SỞ LÍ THUYẾT: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2.2.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Mô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hình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TCP/IP: 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247452" y="3467100"/>
            <a:ext cx="16230600" cy="4431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TCP/IP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truyền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Internet. TCP/IP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phục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hồi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TCP/IP bao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gồm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(Application layer)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vận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(Transport layer)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(Internet layer)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71550" lvl="1" indent="-5143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cập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(Network Access layer)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/>
          </a:p>
          <a:p>
            <a:endParaRPr lang="en-US" i="1" dirty="0"/>
          </a:p>
        </p:txBody>
      </p:sp>
      <p:pic>
        <p:nvPicPr>
          <p:cNvPr id="5" name="Picture 4" descr="TCP/IP là gì? Chức năng, kiến thức về giao thức mạng TCP/IP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753600" y="4838700"/>
            <a:ext cx="7334052" cy="40748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7981752" cy="14503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2. CƠ SỞ LÍ THUYẾT: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2.3. Socket programming: 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-133548" y="3238500"/>
            <a:ext cx="16230600" cy="5215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06780" lvl="1" indent="-453390">
              <a:lnSpc>
                <a:spcPts val="5880"/>
              </a:lnSpc>
              <a:spcBef>
                <a:spcPct val="0"/>
              </a:spcBef>
              <a:buFont typeface="Arial" panose="020B0604020202020204"/>
              <a:buChar char="•"/>
            </a:pP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Socket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là một cơ chế giao tiếp do hệ điều hành cung cấp, cho phép các tiến trình (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process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trao đổi dữ liệu qua mạng hoặc ngay trong cùng một máy tính.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06780" lvl="1" indent="-453390">
              <a:lnSpc>
                <a:spcPts val="5880"/>
              </a:lnSpc>
              <a:spcBef>
                <a:spcPct val="0"/>
              </a:spcBef>
              <a:buFont typeface="Arial" panose="020B0604020202020204"/>
              <a:buChar char="•"/>
            </a:pP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Trong mô hình TCP/IP, 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socket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đóng vai trò như một “điểm cuối” (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endpoint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để chương trình có thể gửi hoặc nhận dữ liệu thông qua các giao thức mạng như TCP hoặc UDP.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06780" lvl="1" indent="-453390">
              <a:lnSpc>
                <a:spcPts val="5880"/>
              </a:lnSpc>
              <a:spcBef>
                <a:spcPct val="0"/>
              </a:spcBef>
              <a:buFont typeface="Arial" panose="020B0604020202020204"/>
              <a:buChar char="•"/>
            </a:pP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Một 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socket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thường được xác định bởi các thông tin gồm: địa chỉ IP, số cổng (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port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và giao thức sử dụng (TCP/UDP).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7981752" cy="14503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2. CƠ SỞ LÍ THUYẾT: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2.4.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Ứng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dụng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trong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thực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tế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: 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168184" y="3543300"/>
            <a:ext cx="16230600" cy="44319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phổ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biến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Messenger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Zalo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Telegram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Giao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realtime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tâm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3. PHÂN TÍCH VÀ THIẾT KẾ HỆ THỐNG: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3.1.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Mô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tả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hệ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thống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381000" y="2936233"/>
            <a:ext cx="16230600" cy="33239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1"/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được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Client–Server,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TCP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truyền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tâm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3. PHÂN TÍCH VÀ THIẾT KẾ HỆ THỐNG: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3.2.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Kiến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trúc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hệ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thống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381000" y="2936233"/>
            <a:ext cx="16230600" cy="3877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1"/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username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Tham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chatroom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0" indent="-7429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3. PHÂN TÍCH VÀ THIẾT KẾ HỆ THỐNG: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3.2.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Kiến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trúc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hệ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thống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200" y="2400300"/>
            <a:ext cx="8752932" cy="735076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3. PHÂN TÍCH VÀ THIẾT KẾ HỆ THỐNG: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3.3.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Thiết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kế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chức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năng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62000" y="2974333"/>
            <a:ext cx="16230600" cy="60939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485900" lvl="2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Quản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Broadcast message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Private message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Kick / Ban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Thông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join/leave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command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3. PHÂN TÍCH VÀ THIẾT KẾ HỆ THỐNG: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3.4.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Thiết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kế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luồng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dữ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liệu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62000" y="2974333"/>
            <a:ext cx="16230600" cy="66479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1485900" lvl="2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username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4"/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reject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4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Banned → reject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4"/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accept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Message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thường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broadcast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/private →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485900" lvl="2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endParaRPr lang="en-US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/leave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xoá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+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báo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3. PHÂN TÍCH VÀ THIẾT KẾ HỆ THỐNG: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3.5.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Thiết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kế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dữ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liệu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62000" y="2974333"/>
            <a:ext cx="1623060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Danh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client: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{username: socket}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Danh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banned: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set(username)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4. XÂY DỰNG VÀ TRIỂN KHAI: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4.1. Công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nghệ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sử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dụng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: 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62000" y="2974333"/>
            <a:ext cx="16230600" cy="33239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Sử dụng 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Python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(đơn giản, dễ phát triển) </a:t>
            </a:r>
            <a:endParaRPr lang="vi-V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Thư viện: </a:t>
            </a:r>
            <a:endParaRPr lang="vi-V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socket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Kết nối TCP 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threading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Xử lý đa luồng </a:t>
            </a:r>
            <a:endParaRPr lang="vi-V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Hỗ trợ giao tiếp </a:t>
            </a:r>
            <a:r>
              <a:rPr lang="vi-VN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real-time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vi-V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Giảm độ phức tạp nhưng vẫn đáp ứng yêu cầu hệ 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vi-VN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4. XÂY DỰNG VÀ TRIỂN KHAI: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4.2.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Xây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dựng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server: 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62000" y="2974333"/>
            <a:ext cx="16230600" cy="4985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Trung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tâm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socket TCP,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lắng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nghe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Mỗi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→ 1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username: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bị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ban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Broadcast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(/private)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4. XÂY DỰNG VÀ TRIỂN KHAI: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4.3.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Chức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năng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server: 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62000" y="2974333"/>
            <a:ext cx="1623060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Quản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Kick (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loại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khỏi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Ban (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lại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4. XÂY DỰNG VÀ TRIỂN KHAI: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4.4.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Xây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dựng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client: 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62000" y="2974333"/>
            <a:ext cx="16230600" cy="3877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server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IP + port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username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2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hiển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Đảm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tục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đoạn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4. XÂY DỰNG VÀ TRIỂN KHAI: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4.5.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Chức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năng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client: 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62000" y="2974333"/>
            <a:ext cx="1623060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indent="-7429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(/private)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Xem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online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indent="-7429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khỏi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4. XÂY DỰNG VÀ TRIỂN KHAI: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4.6.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Chức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năng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hệ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thống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: 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62000" y="2974333"/>
            <a:ext cx="16230600" cy="3877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742950" indent="-742950">
              <a:buFont typeface="+mj-lt"/>
              <a:buAutoNum type="arabicPeriod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username)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(broadcast)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Hiển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online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Thông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báo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indent="-742950">
              <a:buFont typeface="+mj-lt"/>
              <a:buAutoNum type="arabicPeriod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Quản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(kick, ban)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4. XÂY DỰNG VÀ TRIỂN KHAI: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4.7.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Xử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lí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lỗi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: 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62000" y="2974333"/>
            <a:ext cx="16230600" cy="3877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xóa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client.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Từ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username: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private.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Đảm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5. KIỂM THỬ VÀ ĐÁNH GIÁ HỆ THỐNG: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5.1.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Kịch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bản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kiểm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thử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: 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62000" y="2974333"/>
            <a:ext cx="16230600" cy="55399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Gửi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nhắn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tục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Chat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(/private)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Danh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online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kick, ban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lỗi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ngột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Username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trùng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Đảm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chính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xác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5. KIỂM THỬ VÀ ĐÁNH GIÁ HỆ THỐNG: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5.2.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Kết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quả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đạt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được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: 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62000" y="2974333"/>
            <a:ext cx="1623060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mượt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mất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đúng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 real-time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client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nhờ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luồngĐánh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14503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5. KIỂM THỬ VÀ ĐÁNH GIÁ HỆ THỐNG: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5.3.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Đánh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giá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và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hạn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chế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hệ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thống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: 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762000" y="2974333"/>
            <a:ext cx="16230600" cy="4985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TCP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đảm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toàn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vẹn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real-time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Hạn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chế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GUI →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trải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mật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hóa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Lưu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truyền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file.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Chỉ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nội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33548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3400" y="1485900"/>
            <a:ext cx="12039600" cy="6937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880"/>
              </a:lnSpc>
              <a:spcBef>
                <a:spcPct val="0"/>
              </a:spcBef>
            </a:pP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6.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Kết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 </a:t>
            </a:r>
            <a:r>
              <a:rPr lang="en-US" sz="4200" b="1" dirty="0" err="1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luận</a:t>
            </a:r>
            <a:r>
              <a:rPr lang="en-US" sz="4200" b="1" dirty="0">
                <a:solidFill>
                  <a:srgbClr val="000000"/>
                </a:solidFill>
                <a:latin typeface="Times New Roman Bold" panose="02020803070505020304"/>
                <a:ea typeface="Times New Roman Bold" panose="02020803070505020304"/>
                <a:cs typeface="Times New Roman Bold" panose="02020803070505020304"/>
                <a:sym typeface="Times New Roman Bold" panose="02020803070505020304"/>
              </a:rPr>
              <a:t>:</a:t>
            </a:r>
            <a:endParaRPr lang="en-US" sz="4200" b="1" dirty="0">
              <a:solidFill>
                <a:srgbClr val="000000"/>
              </a:solidFill>
              <a:latin typeface="Times New Roman Bold" panose="02020803070505020304"/>
              <a:ea typeface="Times New Roman Bold" panose="02020803070505020304"/>
              <a:cs typeface="Times New Roman Bold" panose="02020803070505020304"/>
              <a:sym typeface="Times New Roman Bold" panose="02020803070505020304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85800" y="2324100"/>
            <a:ext cx="16230600" cy="49859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chat client–server (TCP)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user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giao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real-time (CLI)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đầy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đủ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Chat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riêng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Quản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ổn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đạt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mục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tiêu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ra.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cố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thức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lập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mạng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&amp; TCP.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366655" y="1889661"/>
            <a:ext cx="11554691" cy="7368639"/>
          </a:xfrm>
          <a:custGeom>
            <a:avLst/>
            <a:gdLst/>
            <a:ahLst/>
            <a:cxnLst/>
            <a:rect l="l" t="t" r="r" b="b"/>
            <a:pathLst>
              <a:path w="11554691" h="7368639">
                <a:moveTo>
                  <a:pt x="0" y="0"/>
                </a:moveTo>
                <a:lnTo>
                  <a:pt x="11554690" y="0"/>
                </a:lnTo>
                <a:lnTo>
                  <a:pt x="11554690" y="7368639"/>
                </a:lnTo>
                <a:lnTo>
                  <a:pt x="0" y="736863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6607" b="-20202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5816</Words>
  <Application>WPS Presentation</Application>
  <PresentationFormat>Custom</PresentationFormat>
  <Paragraphs>272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36" baseType="lpstr">
      <vt:lpstr>Arial</vt:lpstr>
      <vt:lpstr>SimSun</vt:lpstr>
      <vt:lpstr>Wingdings</vt:lpstr>
      <vt:lpstr>Times New Roman Bold</vt:lpstr>
      <vt:lpstr>Times New Roman</vt:lpstr>
      <vt:lpstr>Times New Roman</vt:lpstr>
      <vt:lpstr>Arial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BÁO CÁO KỸ THUẬT ĐỊNH TUYẾN TÊN ĐỀ TÀI: Nghiên cứu SGP &amp; Cấu hình OSPF CHUYÊN NGÀNH: MẠNG MÁY TÍNH VÀ TRUYỀN THÔNG DỮ LIỆU</dc:title>
  <dc:creator>Admin</dc:creator>
  <cp:lastModifiedBy>WPS_1776106531</cp:lastModifiedBy>
  <cp:revision>8</cp:revision>
  <dcterms:created xsi:type="dcterms:W3CDTF">2006-08-16T00:00:00Z</dcterms:created>
  <dcterms:modified xsi:type="dcterms:W3CDTF">2026-04-17T06:49:55Z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5E19C3603ADB41D8B60C8665BC2B6F39_12</vt:lpwstr>
  </property>
  <property fmtid="{D5CDD505-2E9C-101B-9397-08002B2CF9AE}" pid="3" name="KSOProductBuildVer">
    <vt:lpwstr>1033-12.1.0.25830</vt:lpwstr>
  </property>
</Properties>
</file>