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89" r:id="rId6"/>
    <p:sldId id="292" r:id="rId7"/>
    <p:sldId id="291" r:id="rId8"/>
    <p:sldId id="295" r:id="rId9"/>
    <p:sldId id="297" r:id="rId10"/>
    <p:sldId id="298" r:id="rId11"/>
    <p:sldId id="299" r:id="rId12"/>
    <p:sldId id="300" r:id="rId13"/>
    <p:sldId id="301" r:id="rId14"/>
    <p:sldId id="302" r:id="rId15"/>
    <p:sldId id="303" r:id="rId16"/>
    <p:sldId id="304" r:id="rId17"/>
    <p:sldId id="305" r:id="rId18"/>
    <p:sldId id="306" r:id="rId19"/>
    <p:sldId id="307" r:id="rId20"/>
    <p:sldId id="308" r:id="rId21"/>
    <p:sldId id="309" r:id="rId22"/>
    <p:sldId id="310" r:id="rId23"/>
    <p:sldId id="311" r:id="rId24"/>
    <p:sldId id="282" r:id="rId25"/>
  </p:sldIdLst>
  <p:sldSz cx="18288000" cy="10287000"/>
  <p:notesSz cx="6858000" cy="9144000"/>
  <p:embeddedFontLst>
    <p:embeddedFont>
      <p:font typeface="Times New Roman Bold" panose="02020803070505020304" pitchFamily="18" charset="0"/>
      <p:regular r:id="rId27"/>
      <p:bold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" initials="A" lastIdx="1" clrIdx="0">
    <p:extLst>
      <p:ext uri="{19B8F6BF-5375-455C-9EA6-DF929625EA0E}">
        <p15:presenceInfo xmlns:p15="http://schemas.microsoft.com/office/powerpoint/2012/main" userId="Adm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22" autoAdjust="0"/>
  </p:normalViewPr>
  <p:slideViewPr>
    <p:cSldViewPr>
      <p:cViewPr varScale="1">
        <p:scale>
          <a:sx n="55" d="100"/>
          <a:sy n="55" d="100"/>
        </p:scale>
        <p:origin x="682" y="3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F8DE3F-CD42-4DF0-A685-DF4B6D22454D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AB82D7-B743-4D19-BE0E-63B39FCFD9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23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10391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3" name="TextBox 3"/>
          <p:cNvSpPr txBox="1"/>
          <p:nvPr/>
        </p:nvSpPr>
        <p:spPr>
          <a:xfrm>
            <a:off x="1028700" y="3565843"/>
            <a:ext cx="16230600" cy="33426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19"/>
              </a:lnSpc>
              <a:spcBef>
                <a:spcPct val="0"/>
              </a:spcBef>
            </a:pPr>
            <a:r>
              <a:rPr lang="en-US" sz="37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BÁO CÁO LẬP TRÌNH MẠNG</a:t>
            </a:r>
          </a:p>
          <a:p>
            <a:pPr algn="ctr">
              <a:lnSpc>
                <a:spcPts val="5319"/>
              </a:lnSpc>
              <a:spcBef>
                <a:spcPct val="0"/>
              </a:spcBef>
            </a:pPr>
            <a:r>
              <a:rPr lang="en-US" sz="37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TÊN ĐỀ TÀI:</a:t>
            </a:r>
          </a:p>
          <a:p>
            <a:pPr algn="ctr">
              <a:lnSpc>
                <a:spcPts val="5319"/>
              </a:lnSpc>
              <a:spcBef>
                <a:spcPct val="0"/>
              </a:spcBef>
            </a:pPr>
            <a:r>
              <a:rPr lang="en-US" sz="3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THIẾT KẾ &amp; XÂY DỰNG HỆ THỐNG CHAT CLIENT-SEVER SỬ DỤNG TCP SOCKET TRONG PYTHON</a:t>
            </a:r>
            <a:endParaRPr lang="en-US" sz="3799" b="1" dirty="0">
              <a:solidFill>
                <a:srgbClr val="00000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  <a:p>
            <a:pPr algn="ctr">
              <a:lnSpc>
                <a:spcPts val="5319"/>
              </a:lnSpc>
              <a:spcBef>
                <a:spcPct val="0"/>
              </a:spcBef>
            </a:pPr>
            <a:r>
              <a:rPr lang="en-US" sz="37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37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333199" y="8902623"/>
            <a:ext cx="8915474" cy="494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Giảng</a:t>
            </a:r>
            <a:r>
              <a:rPr lang="en-US" sz="2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2999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viên</a:t>
            </a:r>
            <a:r>
              <a:rPr lang="en-US" sz="2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2999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hướng</a:t>
            </a:r>
            <a:r>
              <a:rPr lang="en-US" sz="2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2999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dẫn</a:t>
            </a:r>
            <a:r>
              <a:rPr lang="en-US" sz="2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 MINH CHÂU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2657" y="-128736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6" name="TextBox 6"/>
          <p:cNvSpPr txBox="1"/>
          <p:nvPr/>
        </p:nvSpPr>
        <p:spPr>
          <a:xfrm>
            <a:off x="1600200" y="4229100"/>
            <a:ext cx="4886157" cy="48029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1. Trịnh Văn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Thưởng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2251150081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2. Nguyễn Thành Đạt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058206008394</a:t>
            </a:r>
          </a:p>
          <a:p>
            <a:pPr marL="514350" indent="-514350" algn="ctr">
              <a:lnSpc>
                <a:spcPts val="4200"/>
              </a:lnSpc>
              <a:spcBef>
                <a:spcPct val="0"/>
              </a:spcBef>
              <a:buAutoNum type="arabicPeriod"/>
            </a:pPr>
            <a:endParaRPr lang="en-US" sz="30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1611489" y="4224338"/>
            <a:ext cx="5949255" cy="5341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5. Nguyễn Hoàng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Nhựt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Phát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2251150070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6.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Trần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Cao Minh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7180956" y="4229100"/>
            <a:ext cx="3926086" cy="480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3. Vũ Văn Kiệt 2251150059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(NT)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4.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Trần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Hoàng Nam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068206000088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BE68BD4F-A958-4C5A-AE89-68469B74C4CE}"/>
              </a:ext>
            </a:extLst>
          </p:cNvPr>
          <p:cNvSpPr txBox="1"/>
          <p:nvPr/>
        </p:nvSpPr>
        <p:spPr>
          <a:xfrm>
            <a:off x="6669583" y="3238500"/>
            <a:ext cx="494883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40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NHÓM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44503" y="2246228"/>
            <a:ext cx="1659434" cy="731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80"/>
              </a:lnSpc>
              <a:spcBef>
                <a:spcPct val="0"/>
              </a:spcBef>
            </a:pPr>
            <a:r>
              <a:rPr lang="en-US" sz="42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📑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834412" y="2246228"/>
            <a:ext cx="1659434" cy="731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80"/>
              </a:lnSpc>
              <a:spcBef>
                <a:spcPct val="0"/>
              </a:spcBef>
            </a:pPr>
            <a:r>
              <a:rPr lang="en-US" sz="42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Bố cục 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3426279"/>
            <a:ext cx="10858500" cy="42880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63599" lvl="1" indent="-431800" algn="l">
              <a:lnSpc>
                <a:spcPts val="5599"/>
              </a:lnSpc>
              <a:spcBef>
                <a:spcPct val="0"/>
              </a:spcBef>
              <a:buAutoNum type="arabicPeriod"/>
            </a:pPr>
            <a:r>
              <a:rPr lang="en-US" sz="3999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Giới</a:t>
            </a:r>
            <a:r>
              <a:rPr lang="en-US" sz="39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999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thiệu</a:t>
            </a:r>
            <a:r>
              <a:rPr lang="en-US" sz="39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999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đề</a:t>
            </a:r>
            <a:r>
              <a:rPr lang="en-US" sz="39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999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tài</a:t>
            </a:r>
            <a:endParaRPr lang="en-US" sz="3999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863599" lvl="1" indent="-431800" algn="l">
              <a:lnSpc>
                <a:spcPts val="5599"/>
              </a:lnSpc>
              <a:spcBef>
                <a:spcPct val="0"/>
              </a:spcBef>
              <a:buAutoNum type="arabicPeriod"/>
            </a:pPr>
            <a:r>
              <a:rPr lang="en-US" sz="3999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Cơ</a:t>
            </a:r>
            <a:r>
              <a:rPr lang="en-US" sz="39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999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sở</a:t>
            </a:r>
            <a:r>
              <a:rPr lang="en-US" sz="39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999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lí</a:t>
            </a:r>
            <a:r>
              <a:rPr lang="en-US" sz="39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999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thuyết</a:t>
            </a:r>
            <a:endParaRPr lang="en-US" sz="3999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06780" lvl="1" indent="-453390" algn="l">
              <a:lnSpc>
                <a:spcPts val="5880"/>
              </a:lnSpc>
              <a:spcBef>
                <a:spcPct val="0"/>
              </a:spcBef>
              <a:buAutoNum type="arabicPeriod"/>
            </a:pPr>
            <a:r>
              <a:rPr lang="en-US" sz="42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Phân</a:t>
            </a:r>
            <a:r>
              <a:rPr lang="en-US" sz="42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42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tích</a:t>
            </a:r>
            <a:r>
              <a:rPr lang="en-US" sz="42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42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và</a:t>
            </a:r>
            <a:r>
              <a:rPr lang="en-US" sz="42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42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thiết</a:t>
            </a:r>
            <a:r>
              <a:rPr lang="en-US" sz="42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42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kế</a:t>
            </a:r>
            <a:r>
              <a:rPr lang="en-US" sz="42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42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hệ</a:t>
            </a:r>
            <a:r>
              <a:rPr lang="en-US" sz="42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42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thống</a:t>
            </a:r>
            <a:endParaRPr lang="en-US" sz="42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863599" lvl="1" indent="-431800" algn="l">
              <a:lnSpc>
                <a:spcPts val="5599"/>
              </a:lnSpc>
              <a:spcBef>
                <a:spcPct val="0"/>
              </a:spcBef>
              <a:buAutoNum type="arabicPeriod"/>
            </a:pPr>
            <a:r>
              <a:rPr lang="en-US" sz="3999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Xây</a:t>
            </a:r>
            <a:r>
              <a:rPr lang="en-US" sz="39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999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dựng</a:t>
            </a:r>
            <a:r>
              <a:rPr lang="en-US" sz="39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999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và</a:t>
            </a:r>
            <a:r>
              <a:rPr lang="en-US" sz="39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999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triển</a:t>
            </a:r>
            <a:r>
              <a:rPr lang="en-US" sz="39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999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khai</a:t>
            </a:r>
            <a:endParaRPr lang="en-US" sz="3999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863599" lvl="1" indent="-431800" algn="l">
              <a:lnSpc>
                <a:spcPts val="5599"/>
              </a:lnSpc>
              <a:spcBef>
                <a:spcPct val="0"/>
              </a:spcBef>
              <a:buAutoNum type="arabicPeriod"/>
            </a:pPr>
            <a:r>
              <a:rPr lang="en-US" sz="3999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Kiểm</a:t>
            </a:r>
            <a:r>
              <a:rPr lang="en-US" sz="39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999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thử</a:t>
            </a:r>
            <a:r>
              <a:rPr lang="en-US" sz="39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999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và</a:t>
            </a:r>
            <a:r>
              <a:rPr lang="en-US" sz="39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999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đánh</a:t>
            </a:r>
            <a:r>
              <a:rPr lang="en-US" sz="39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999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giá</a:t>
            </a:r>
            <a:r>
              <a:rPr lang="en-US" sz="39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999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hệ</a:t>
            </a:r>
            <a:r>
              <a:rPr lang="en-US" sz="39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999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thống</a:t>
            </a:r>
            <a:endParaRPr lang="en-US" sz="3999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863599" lvl="1" indent="-431800" algn="l">
              <a:lnSpc>
                <a:spcPts val="5599"/>
              </a:lnSpc>
              <a:spcBef>
                <a:spcPct val="0"/>
              </a:spcBef>
              <a:buAutoNum type="arabicPeriod"/>
            </a:pPr>
            <a:r>
              <a:rPr lang="en-US" sz="3999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Kết</a:t>
            </a:r>
            <a:r>
              <a:rPr lang="en-US" sz="39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999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luận</a:t>
            </a:r>
            <a:endParaRPr lang="en-US" sz="3999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33400" y="1485900"/>
            <a:ext cx="7981752" cy="14503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2. CƠ SỞ LÍ THUYẾT:</a:t>
            </a: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2.1.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Mô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hình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client-server: 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-133548" y="3238500"/>
            <a:ext cx="16230600" cy="5039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06780" lvl="1" indent="-453390">
              <a:lnSpc>
                <a:spcPts val="5880"/>
              </a:lnSpc>
              <a:spcBef>
                <a:spcPct val="0"/>
              </a:spcBef>
              <a:buFont typeface="Arial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Client–Server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những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phổ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mạng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nay.	</a:t>
            </a:r>
          </a:p>
          <a:p>
            <a:pPr marL="906780" lvl="1" indent="-453390">
              <a:lnSpc>
                <a:spcPts val="5880"/>
              </a:lnSpc>
              <a:spcBef>
                <a:spcPct val="0"/>
              </a:spcBef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Trong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này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chia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0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 Client: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phía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server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hồi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 Server: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phía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dịch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vụ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client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trả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Trong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chat:</a:t>
            </a:r>
          </a:p>
          <a:p>
            <a:pPr lvl="0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 Server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đóng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trò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tâm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toàn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 Client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chatroom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3D9F2-C234-88DA-6E81-A55D634CC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54511C6-AD00-4629-2BC6-3736B1297E2B}"/>
              </a:ext>
            </a:extLst>
          </p:cNvPr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19CD8670-12FD-4E21-88C9-E933BD546A76}"/>
              </a:ext>
            </a:extLst>
          </p:cNvPr>
          <p:cNvSpPr txBox="1"/>
          <p:nvPr/>
        </p:nvSpPr>
        <p:spPr>
          <a:xfrm>
            <a:off x="381000" y="1562100"/>
            <a:ext cx="7981752" cy="14503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2. CƠ SỞ LÍ THUYẾT:</a:t>
            </a: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2.2.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Mô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hình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TCP/IP: 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C2D109D-4864-D981-C4EE-3E3665B6C1D1}"/>
              </a:ext>
            </a:extLst>
          </p:cNvPr>
          <p:cNvSpPr txBox="1"/>
          <p:nvPr/>
        </p:nvSpPr>
        <p:spPr>
          <a:xfrm>
            <a:off x="247452" y="3467100"/>
            <a:ext cx="16230600" cy="4431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TCP/IP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truyền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mạng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Internet. TCP/IP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mạng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cậy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cùng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khả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tự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phục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hồi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TCP/IP bao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gồm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4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lớp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Tầng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(Application layer)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Tầng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vận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chuyển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(Transport layer)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Tầng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mạng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(Internet layer)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Tầng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truy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cập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mạng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(Network Access layer)</a:t>
            </a:r>
          </a:p>
          <a:p>
            <a:endParaRPr lang="en-US" dirty="0"/>
          </a:p>
          <a:p>
            <a:endParaRPr lang="en-US" i="1" dirty="0"/>
          </a:p>
        </p:txBody>
      </p:sp>
      <p:pic>
        <p:nvPicPr>
          <p:cNvPr id="5" name="Picture 4" descr="TCP/IP là gì? Chức năng, kiến thức về giao thức mạng TCP/IP">
            <a:extLst>
              <a:ext uri="{FF2B5EF4-FFF2-40B4-BE49-F238E27FC236}">
                <a16:creationId xmlns:a16="http://schemas.microsoft.com/office/drawing/2014/main" id="{2FF4285C-739C-213F-E3F8-E5DA4588FB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753600" y="4838700"/>
            <a:ext cx="7334052" cy="407488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779686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B6211-4C74-82E4-0F28-D6220EDD7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E644DFA-D6F8-243F-B2CC-A9A51A2C78B1}"/>
              </a:ext>
            </a:extLst>
          </p:cNvPr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34BC9F19-4D5F-6751-8E62-5587EE915CE2}"/>
              </a:ext>
            </a:extLst>
          </p:cNvPr>
          <p:cNvSpPr txBox="1"/>
          <p:nvPr/>
        </p:nvSpPr>
        <p:spPr>
          <a:xfrm>
            <a:off x="533400" y="1485900"/>
            <a:ext cx="7981752" cy="14503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2. CƠ SỞ LÍ THUYẾT:</a:t>
            </a: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2.3. Socket programming: 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6858CF0-86A2-FF6E-1B2C-6EF9C6637AA4}"/>
              </a:ext>
            </a:extLst>
          </p:cNvPr>
          <p:cNvSpPr txBox="1"/>
          <p:nvPr/>
        </p:nvSpPr>
        <p:spPr>
          <a:xfrm>
            <a:off x="-133548" y="3238500"/>
            <a:ext cx="16230600" cy="5215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06780" lvl="1" indent="-453390">
              <a:lnSpc>
                <a:spcPts val="5880"/>
              </a:lnSpc>
              <a:spcBef>
                <a:spcPct val="0"/>
              </a:spcBef>
              <a:buFont typeface="Arial"/>
              <a:buChar char="•"/>
            </a:pPr>
            <a:r>
              <a:rPr lang="vi-V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Socket</a:t>
            </a: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là một cơ chế giao tiếp do hệ điều hành cung cấp, cho phép các tiến trình (</a:t>
            </a:r>
            <a:r>
              <a:rPr lang="vi-V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process</a:t>
            </a: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trao đổi dữ liệu qua mạng hoặc ngay trong cùng một máy tính.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06780" lvl="1" indent="-453390">
              <a:lnSpc>
                <a:spcPts val="5880"/>
              </a:lnSpc>
              <a:spcBef>
                <a:spcPct val="0"/>
              </a:spcBef>
              <a:buFont typeface="Arial"/>
              <a:buChar char="•"/>
            </a:pP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Trong mô hình TCP/IP, </a:t>
            </a:r>
            <a:r>
              <a:rPr lang="vi-V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socket</a:t>
            </a: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đóng vai trò như một “điểm cuối” (</a:t>
            </a:r>
            <a:r>
              <a:rPr lang="vi-V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endpoint</a:t>
            </a: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để chương trình có thể gửi hoặc nhận dữ liệu thông qua các giao thức mạng như TCP hoặc UDP.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06780" lvl="1" indent="-453390">
              <a:lnSpc>
                <a:spcPts val="5880"/>
              </a:lnSpc>
              <a:spcBef>
                <a:spcPct val="0"/>
              </a:spcBef>
              <a:buFont typeface="Arial"/>
              <a:buChar char="•"/>
            </a:pP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Một </a:t>
            </a:r>
            <a:r>
              <a:rPr lang="vi-V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socket</a:t>
            </a: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thường được xác định bởi các thông tin gồm: địa chỉ IP, số cổng (</a:t>
            </a:r>
            <a:r>
              <a:rPr lang="vi-V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port</a:t>
            </a: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và giao thức sử dụng (TCP/UDP).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58804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93A3F-D2D0-CDD2-39D6-E5199D514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228FC30-43EE-E0C9-C568-A0258DF94DEA}"/>
              </a:ext>
            </a:extLst>
          </p:cNvPr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63DEBB23-3093-4135-8995-ECBD76ED1C66}"/>
              </a:ext>
            </a:extLst>
          </p:cNvPr>
          <p:cNvSpPr txBox="1"/>
          <p:nvPr/>
        </p:nvSpPr>
        <p:spPr>
          <a:xfrm>
            <a:off x="533400" y="1485900"/>
            <a:ext cx="7981752" cy="14503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2. CƠ SỞ LÍ THUYẾT:</a:t>
            </a: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2.4.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Ứng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dụng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trong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thực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tế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 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98A11BB0-921D-D9B1-BF10-400DC4A07D71}"/>
              </a:ext>
            </a:extLst>
          </p:cNvPr>
          <p:cNvSpPr txBox="1"/>
          <p:nvPr/>
        </p:nvSpPr>
        <p:spPr>
          <a:xfrm>
            <a:off x="168184" y="3543300"/>
            <a:ext cx="16230600" cy="4431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Các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phổ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0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 Messenger</a:t>
            </a:r>
          </a:p>
          <a:p>
            <a:pPr lvl="0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Zalo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 Telegram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0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 Giao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realtime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server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tâm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99689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B87A0-0C1A-00CB-EEF6-1DA71015C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F38F22F-791B-54C1-F4B6-FDF7B798D1DC}"/>
              </a:ext>
            </a:extLst>
          </p:cNvPr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316032F5-5F14-7918-AE30-8244C3F76AA8}"/>
              </a:ext>
            </a:extLst>
          </p:cNvPr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3. PHÂN TÍCH VÀ THIẾT KẾ HỆ THỐNG:</a:t>
            </a: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3.1.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Mô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tả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hệ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thống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99FC41F-055A-AAF5-903F-C390EE84A7D5}"/>
              </a:ext>
            </a:extLst>
          </p:cNvPr>
          <p:cNvSpPr txBox="1"/>
          <p:nvPr/>
        </p:nvSpPr>
        <p:spPr>
          <a:xfrm>
            <a:off x="381000" y="2936233"/>
            <a:ext cx="16230600" cy="33239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1"/>
            <a:endParaRPr 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Client–Server,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TCP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truyền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Các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0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 Server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tâm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lvl="0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client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00602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A883E-100C-6140-A9A3-C56B08180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9651C70-6C50-DFAE-E74C-1A130186DF98}"/>
              </a:ext>
            </a:extLst>
          </p:cNvPr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55CED375-4E33-0EB3-D968-DB8134D06C35}"/>
              </a:ext>
            </a:extLst>
          </p:cNvPr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3. PHÂN TÍCH VÀ THIẾT KẾ HỆ THỐNG:</a:t>
            </a: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3.2.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Kiến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trúc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hệ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thống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A5EEEBF-AA12-B474-293F-A73784774E3B}"/>
              </a:ext>
            </a:extLst>
          </p:cNvPr>
          <p:cNvSpPr txBox="1"/>
          <p:nvPr/>
        </p:nvSpPr>
        <p:spPr>
          <a:xfrm>
            <a:off x="381000" y="2936233"/>
            <a:ext cx="16230600" cy="3877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1"/>
            <a:endParaRPr 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Luồng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742950" lvl="0" indent="-742950">
              <a:buFont typeface="+mj-lt"/>
              <a:buAutoNum type="arabicPeriod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Client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server </a:t>
            </a:r>
          </a:p>
          <a:p>
            <a:pPr marL="742950" lvl="0" indent="-742950">
              <a:buFont typeface="+mj-lt"/>
              <a:buAutoNum type="arabicPeriod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username </a:t>
            </a:r>
          </a:p>
          <a:p>
            <a:pPr marL="742950" lvl="0" indent="-742950">
              <a:buFont typeface="+mj-lt"/>
              <a:buAutoNum type="arabicPeriod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xác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742950" lvl="0" indent="-742950">
              <a:buFont typeface="+mj-lt"/>
              <a:buAutoNum type="arabicPeriod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Tham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chatroom </a:t>
            </a:r>
          </a:p>
          <a:p>
            <a:pPr marL="742950" lvl="0" indent="-742950">
              <a:buFont typeface="+mj-lt"/>
              <a:buAutoNum type="arabicPeriod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nhắn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36137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ADAF0-049C-10F2-FF38-F608ED407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67D8072-B956-1FFD-8447-7FE7876A4A3A}"/>
              </a:ext>
            </a:extLst>
          </p:cNvPr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4D20D527-C345-ADAA-DD4D-0DDD17496F13}"/>
              </a:ext>
            </a:extLst>
          </p:cNvPr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3. PHÂN TÍCH VÀ THIẾT KẾ HỆ THỐNG:</a:t>
            </a: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3.3.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Thiết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kế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chức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năng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A9B7053-02D4-A955-06F0-4FAE6DA59391}"/>
              </a:ext>
            </a:extLst>
          </p:cNvPr>
          <p:cNvSpPr txBox="1"/>
          <p:nvPr/>
        </p:nvSpPr>
        <p:spPr>
          <a:xfrm>
            <a:off x="762000" y="2974333"/>
            <a:ext cx="16230600" cy="6093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485900" lvl="2" indent="-571500">
              <a:buFont typeface="Arial" panose="020B0604020202020204" pitchFamily="34" charset="0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  <a:endParaRPr 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Quản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Xác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 </a:t>
            </a: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Broadcast message </a:t>
            </a: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Private message </a:t>
            </a: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Kick / Ban </a:t>
            </a: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Thông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join/leave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Client</a:t>
            </a: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server </a:t>
            </a: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nhắn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command</a:t>
            </a:r>
          </a:p>
        </p:txBody>
      </p:sp>
    </p:spTree>
    <p:extLst>
      <p:ext uri="{BB962C8B-B14F-4D97-AF65-F5344CB8AC3E}">
        <p14:creationId xmlns:p14="http://schemas.microsoft.com/office/powerpoint/2010/main" val="3860110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6E6E1-AA1E-8EEB-C470-DE1BB89FB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C224DA7-45F4-8054-7BDF-F6289A0E6838}"/>
              </a:ext>
            </a:extLst>
          </p:cNvPr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B8F37508-611C-62AA-F293-C491553BCE73}"/>
              </a:ext>
            </a:extLst>
          </p:cNvPr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3. PHÂN TÍCH VÀ THIẾT KẾ HỆ THỐNG:</a:t>
            </a: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3.4.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Thiết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kế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luồng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dữ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liệu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98FB1D7D-679C-E9C8-9383-265C4815AF7B}"/>
              </a:ext>
            </a:extLst>
          </p:cNvPr>
          <p:cNvSpPr txBox="1"/>
          <p:nvPr/>
        </p:nvSpPr>
        <p:spPr>
          <a:xfrm>
            <a:off x="762000" y="2974333"/>
            <a:ext cx="16230600" cy="66479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485900" lvl="2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Luồng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đăng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nhập</a:t>
            </a:r>
            <a:endParaRPr 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Client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username </a:t>
            </a: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Server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lvl="4"/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Trùng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reject </a:t>
            </a:r>
          </a:p>
          <a:p>
            <a:pPr lvl="4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Banned → reject </a:t>
            </a:r>
          </a:p>
          <a:p>
            <a:pPr lvl="4"/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accept </a:t>
            </a:r>
          </a:p>
          <a:p>
            <a:pPr marL="1485900" lvl="2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Luồng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nhắn</a:t>
            </a:r>
            <a:endParaRPr 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Message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thường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broadcast </a:t>
            </a: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/private →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riêng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1485900" lvl="2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Luồng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rời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phòng</a:t>
            </a:r>
            <a:endParaRPr 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Client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/leave </a:t>
            </a: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Server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xoá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 +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báo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80843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5B800-7656-6B61-94C0-43A3A4916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DB803C6-4A4C-E2A8-8ADE-777687336FA3}"/>
              </a:ext>
            </a:extLst>
          </p:cNvPr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1FE2FB54-8DDD-37BC-6E2C-128344999ED2}"/>
              </a:ext>
            </a:extLst>
          </p:cNvPr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3. PHÂN TÍCH VÀ THIẾT KẾ HỆ THỐNG:</a:t>
            </a: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3.5.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Thiết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kế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dữ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liệu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92433AFD-42A7-3281-6EAE-FD0BAE051CEB}"/>
              </a:ext>
            </a:extLst>
          </p:cNvPr>
          <p:cNvSpPr txBox="1"/>
          <p:nvPr/>
        </p:nvSpPr>
        <p:spPr>
          <a:xfrm>
            <a:off x="762000" y="2974333"/>
            <a:ext cx="16230600" cy="2769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Danh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sách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client: </a:t>
            </a: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{username: socket}</a:t>
            </a: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Danh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sách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banned: </a:t>
            </a: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set(username)</a:t>
            </a:r>
          </a:p>
        </p:txBody>
      </p:sp>
    </p:spTree>
    <p:extLst>
      <p:ext uri="{BB962C8B-B14F-4D97-AF65-F5344CB8AC3E}">
        <p14:creationId xmlns:p14="http://schemas.microsoft.com/office/powerpoint/2010/main" val="10975343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C60BE-C511-CECA-1B07-FAE8E4CAA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0DBEA56-6EC7-5330-0FFE-A79A85C58BF0}"/>
              </a:ext>
            </a:extLst>
          </p:cNvPr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04D22357-BD0A-69FA-B409-58C7F84350C1}"/>
              </a:ext>
            </a:extLst>
          </p:cNvPr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4. XÂY DỰNG VÀ TRIỂN KHAI:</a:t>
            </a: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4.1. Công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nghệ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sử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dụng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 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63C7A7B-4168-165D-E969-B2368AC2FA2B}"/>
              </a:ext>
            </a:extLst>
          </p:cNvPr>
          <p:cNvSpPr txBox="1"/>
          <p:nvPr/>
        </p:nvSpPr>
        <p:spPr>
          <a:xfrm>
            <a:off x="762000" y="2974333"/>
            <a:ext cx="16230600" cy="33239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Sử dụng </a:t>
            </a:r>
            <a:r>
              <a:rPr lang="vi-V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(đơn giản, dễ phát triển)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Thư viện: </a:t>
            </a:r>
          </a:p>
          <a:p>
            <a:pPr lvl="1"/>
            <a:r>
              <a:rPr lang="vi-V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socket</a:t>
            </a: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Kết nối TCP </a:t>
            </a:r>
            <a:r>
              <a:rPr lang="vi-V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client</a:t>
            </a: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</a:t>
            </a:r>
            <a:r>
              <a:rPr lang="vi-V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/>
            <a:r>
              <a:rPr lang="vi-V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threading</a:t>
            </a: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Xử lý đa luồng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Hỗ trợ giao tiếp </a:t>
            </a:r>
            <a:r>
              <a:rPr lang="vi-V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real-time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Giảm độ phức tạp nhưng vẫn đáp ứng yêu cầu hệ thống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vi-V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37170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91C9B-AA3A-CBDE-69E1-B5E39B73F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4B3DE7E-D1B3-9104-AA06-1E27652CC130}"/>
              </a:ext>
            </a:extLst>
          </p:cNvPr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00DCCD42-AFCF-8D40-6D3B-B742B186169D}"/>
              </a:ext>
            </a:extLst>
          </p:cNvPr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4. XÂY DỰNG VÀ TRIỂN KHAI:</a:t>
            </a: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4.2.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Xây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dựng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server: 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49A7918-E957-618C-3988-D9FFB0B028F1}"/>
              </a:ext>
            </a:extLst>
          </p:cNvPr>
          <p:cNvSpPr txBox="1"/>
          <p:nvPr/>
        </p:nvSpPr>
        <p:spPr>
          <a:xfrm>
            <a:off x="762000" y="2974333"/>
            <a:ext cx="16230600" cy="49859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Trung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tâm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client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socket TCP,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lắng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nghe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Mỗi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client → 1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luồng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riêng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username: </a:t>
            </a: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trùng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ban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Broadcast tin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nhắn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riêng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(/private)</a:t>
            </a:r>
          </a:p>
        </p:txBody>
      </p:sp>
    </p:spTree>
    <p:extLst>
      <p:ext uri="{BB962C8B-B14F-4D97-AF65-F5344CB8AC3E}">
        <p14:creationId xmlns:p14="http://schemas.microsoft.com/office/powerpoint/2010/main" val="17363052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3ACC2-5133-B594-EC93-24AD2B6C1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5192F85-1D81-7E1C-2BBA-C24092E6F0EF}"/>
              </a:ext>
            </a:extLst>
          </p:cNvPr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238CA8A5-ACC0-35D6-0131-E358725F4516}"/>
              </a:ext>
            </a:extLst>
          </p:cNvPr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4. XÂY DỰNG VÀ TRIỂN KHAI:</a:t>
            </a: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4.3.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Chức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năng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server: 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2086DFD-5EF2-806F-1555-87688C273635}"/>
              </a:ext>
            </a:extLst>
          </p:cNvPr>
          <p:cNvSpPr txBox="1"/>
          <p:nvPr/>
        </p:nvSpPr>
        <p:spPr>
          <a:xfrm>
            <a:off x="762000" y="2974333"/>
            <a:ext cx="16230600" cy="2769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Quản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lí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Kick (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loại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khỏi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phòng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)</a:t>
            </a: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Ban (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đăng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lại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lệnh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client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93627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B6DEE-65CE-34BA-C597-CB05433A6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5980456-4E5A-89ED-97E5-B16C406CC855}"/>
              </a:ext>
            </a:extLst>
          </p:cNvPr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29AC4801-294D-85F3-1B0D-6EE5A2B8D88F}"/>
              </a:ext>
            </a:extLst>
          </p:cNvPr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4. XÂY DỰNG VÀ TRIỂN KHAI:</a:t>
            </a: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4.4.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Xây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dựng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client: 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8D480A5-7B9B-1AC2-8E5D-DCD1BB3BA9C3}"/>
              </a:ext>
            </a:extLst>
          </p:cNvPr>
          <p:cNvSpPr txBox="1"/>
          <p:nvPr/>
        </p:nvSpPr>
        <p:spPr>
          <a:xfrm>
            <a:off x="762000" y="2974333"/>
            <a:ext cx="16230600" cy="3877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server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IP + port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username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luồng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nhắn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2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hiển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thị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nhắn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Đảm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liên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tục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đoạn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59885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CC943-B675-040A-9956-6D4703AC7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EAF3E91-586B-2793-B891-A8AD70E60F6C}"/>
              </a:ext>
            </a:extLst>
          </p:cNvPr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76784B4-D41A-5548-ABAB-36391BEE6270}"/>
              </a:ext>
            </a:extLst>
          </p:cNvPr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4. XÂY DỰNG VÀ TRIỂN KHAI:</a:t>
            </a: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4.5.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Chức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năng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client: 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5DEF66F-8731-01A6-C805-6701F424ADC4}"/>
              </a:ext>
            </a:extLst>
          </p:cNvPr>
          <p:cNvSpPr txBox="1"/>
          <p:nvPr/>
        </p:nvSpPr>
        <p:spPr>
          <a:xfrm>
            <a:off x="762000" y="2974333"/>
            <a:ext cx="16230600" cy="2769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nhắn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khai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nhắn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riêng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(/private) 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Xem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sách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 online 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Rời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khỏi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phòng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3314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8010-7370-3AA1-E1E1-452E048B4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8237F3E-529C-02AB-6E60-6B4117F70C86}"/>
              </a:ext>
            </a:extLst>
          </p:cNvPr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36014091-C3CB-EA33-6C29-428B8A69880D}"/>
              </a:ext>
            </a:extLst>
          </p:cNvPr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4. XÂY DỰNG VÀ TRIỂN KHAI:</a:t>
            </a: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4.6.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Chức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năng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hệ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thống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 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3779190-61B8-FFBF-1201-D10E17F84B36}"/>
              </a:ext>
            </a:extLst>
          </p:cNvPr>
          <p:cNvSpPr txBox="1"/>
          <p:nvPr/>
        </p:nvSpPr>
        <p:spPr>
          <a:xfrm>
            <a:off x="762000" y="2974333"/>
            <a:ext cx="16230600" cy="3877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Đăng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username) 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khai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(broadcast) 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riêng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Hiển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thị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 online 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Thông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phòng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Quản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 (kick, ban)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6262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6C5BD-92FF-4CC0-2144-34AD74803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9FBE560-995A-C486-508E-DB623EE70FDB}"/>
              </a:ext>
            </a:extLst>
          </p:cNvPr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1D357B04-521C-ADD4-7A82-86E936B75FDB}"/>
              </a:ext>
            </a:extLst>
          </p:cNvPr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4. XÂY DỰNG VÀ TRIỂN KHAI:</a:t>
            </a: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4.7.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Xử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lí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lỗi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 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CACF7C-726D-7286-F9AE-39E8EA4641B6}"/>
              </a:ext>
            </a:extLst>
          </p:cNvPr>
          <p:cNvSpPr txBox="1"/>
          <p:nvPr/>
        </p:nvSpPr>
        <p:spPr>
          <a:xfrm>
            <a:off x="762000" y="2974333"/>
            <a:ext cx="16230600" cy="3877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mất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tự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xóa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client.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username: </a:t>
            </a: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Trùng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private.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Đảm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ổn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41707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6368-DAAB-3A4E-E53B-ED59766F9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62AF502-7F18-E2B8-8CA0-DFA32B827E26}"/>
              </a:ext>
            </a:extLst>
          </p:cNvPr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DE798FAE-3D44-2538-F829-ABCCAA3B1689}"/>
              </a:ext>
            </a:extLst>
          </p:cNvPr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5. KIỂM THỬ VÀ ĐÁNH GIÁ HỆ THỐNG:</a:t>
            </a: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5.1.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Kịch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bản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kiểm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thử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 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B214BFA-B969-33B8-DBE5-DD023A8FEED3}"/>
              </a:ext>
            </a:extLst>
          </p:cNvPr>
          <p:cNvSpPr txBox="1"/>
          <p:nvPr/>
        </p:nvSpPr>
        <p:spPr>
          <a:xfrm>
            <a:off x="762000" y="2974333"/>
            <a:ext cx="16230600" cy="55399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thử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client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luồng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nhắn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liên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tục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ổn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Chat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riêng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(/private) </a:t>
            </a: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Danh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sách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 online </a:t>
            </a: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Lệnh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kick, ban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thử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tình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huống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lỗi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Mất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ngột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Username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trùng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Đảm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xác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ổn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504684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C96BD-1148-BE5F-3E55-A967A2C69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C51385F-F850-910B-7ACD-0FE2921FD8CD}"/>
              </a:ext>
            </a:extLst>
          </p:cNvPr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0AF722B4-4939-50E3-C783-DFDCD2E2365B}"/>
              </a:ext>
            </a:extLst>
          </p:cNvPr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5. KIỂM THỬ VÀ ĐÁNH GIÁ HỆ THỐNG:</a:t>
            </a: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5.2.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Kết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quả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đạt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được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 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5E923685-C753-2E3A-2566-77AE6B8B9062}"/>
              </a:ext>
            </a:extLst>
          </p:cNvPr>
          <p:cNvSpPr txBox="1"/>
          <p:nvPr/>
        </p:nvSpPr>
        <p:spPr>
          <a:xfrm>
            <a:off x="762000" y="2974333"/>
            <a:ext cx="16230600" cy="2769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ổn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mạng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Client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mượt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mất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Các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đúng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Chat real-time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client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nhờ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luồngĐánh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13532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91105-E963-1310-234D-31C4F006D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3E10FBD-9E58-F4BF-7EC2-81CEF9D43056}"/>
              </a:ext>
            </a:extLst>
          </p:cNvPr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48F3AEF9-41CB-5261-0108-D46E71ADB152}"/>
              </a:ext>
            </a:extLst>
          </p:cNvPr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5. KIỂM THỬ VÀ ĐÁNH GIÁ HỆ THỐNG:</a:t>
            </a: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5.3.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Đánh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giá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và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hạn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chế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hệ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thống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 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5E29C8EA-4CC3-F7F7-847C-2C9EDB44B1E6}"/>
              </a:ext>
            </a:extLst>
          </p:cNvPr>
          <p:cNvSpPr txBox="1"/>
          <p:nvPr/>
        </p:nvSpPr>
        <p:spPr>
          <a:xfrm>
            <a:off x="762000" y="2974333"/>
            <a:ext cx="16230600" cy="49859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khai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mở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rộng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TCP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đảm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toàn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vẹn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real-time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Hạn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chế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GUI →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trải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nghiệm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mật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mã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hóa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 </a:t>
            </a: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Lưu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lịch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truyền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file. 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Chỉ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mạng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lớn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3746757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6CE78-232E-DC44-F4D5-05273F45F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3F9AA72-10CE-94DF-4CF5-FF69E63633E6}"/>
              </a:ext>
            </a:extLst>
          </p:cNvPr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3CB83820-DA09-C545-EAE6-7FD534ADA910}"/>
              </a:ext>
            </a:extLst>
          </p:cNvPr>
          <p:cNvSpPr txBox="1"/>
          <p:nvPr/>
        </p:nvSpPr>
        <p:spPr>
          <a:xfrm>
            <a:off x="533400" y="1485900"/>
            <a:ext cx="12039600" cy="6937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6.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Kết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luận</a:t>
            </a:r>
            <a:r>
              <a:rPr lang="en-US" sz="4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9A10C4C-74A9-825F-386E-364207CC6203}"/>
              </a:ext>
            </a:extLst>
          </p:cNvPr>
          <p:cNvSpPr txBox="1"/>
          <p:nvPr/>
        </p:nvSpPr>
        <p:spPr>
          <a:xfrm>
            <a:off x="685800" y="2324100"/>
            <a:ext cx="16230600" cy="49859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chat client–server (TCP)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real-time (CLI)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khai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đầy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đủ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Đăng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Chat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khai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riêng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Quản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ổn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đạt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tiêu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ra.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cố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lập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mạng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TCP.</a:t>
            </a:r>
          </a:p>
          <a:p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20160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3366655" y="1889661"/>
            <a:ext cx="11554691" cy="7368639"/>
          </a:xfrm>
          <a:custGeom>
            <a:avLst/>
            <a:gdLst/>
            <a:ahLst/>
            <a:cxnLst/>
            <a:rect l="l" t="t" r="r" b="b"/>
            <a:pathLst>
              <a:path w="11554691" h="7368639">
                <a:moveTo>
                  <a:pt x="0" y="0"/>
                </a:moveTo>
                <a:lnTo>
                  <a:pt x="11554690" y="0"/>
                </a:lnTo>
                <a:lnTo>
                  <a:pt x="11554690" y="7368639"/>
                </a:lnTo>
                <a:lnTo>
                  <a:pt x="0" y="73686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6607" b="-20202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1457</Words>
  <Application>Microsoft Office PowerPoint</Application>
  <PresentationFormat>Custom</PresentationFormat>
  <Paragraphs>211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Calibri</vt:lpstr>
      <vt:lpstr>Times New Roman Bold</vt:lpstr>
      <vt:lpstr>Times New Roman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BÁO CÁO KỸ THUẬT ĐỊNH TUYẾN TÊN ĐỀ TÀI: Nghiên cứu SGP &amp; Cấu hình OSPF CHUYÊN NGÀNH: MẠNG MÁY TÍNH VÀ TRUYỀN THÔNG DỮ LIỆU</dc:title>
  <dc:creator>Admin</dc:creator>
  <cp:lastModifiedBy>Admin</cp:lastModifiedBy>
  <cp:revision>6</cp:revision>
  <dcterms:created xsi:type="dcterms:W3CDTF">2006-08-16T00:00:00Z</dcterms:created>
  <dcterms:modified xsi:type="dcterms:W3CDTF">2026-04-13T10:04:41Z</dcterms:modified>
  <dc:identifier>DAG-MUT-QvM</dc:identifier>
</cp:coreProperties>
</file>